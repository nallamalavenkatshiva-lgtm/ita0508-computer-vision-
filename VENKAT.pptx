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1" r:id="rId3"/>
    <p:sldId id="273" r:id="rId4"/>
    <p:sldId id="258" r:id="rId5"/>
    <p:sldId id="277" r:id="rId6"/>
    <p:sldId id="278" r:id="rId7"/>
    <p:sldId id="28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355A4E-C9DA-4AE3-9E29-405BF3976515}">
          <p14:sldIdLst>
            <p14:sldId id="256"/>
            <p14:sldId id="271"/>
            <p14:sldId id="273"/>
            <p14:sldId id="258"/>
            <p14:sldId id="277"/>
            <p14:sldId id="278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7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 Shiva" userId="9d6c1d36ca13d03d" providerId="LiveId" clId="{7CAD9976-FB7B-446F-8466-4AEC4184BAAF}"/>
    <pc:docChg chg="delSld modSld modSection">
      <pc:chgData name="Venkat Shiva" userId="9d6c1d36ca13d03d" providerId="LiveId" clId="{7CAD9976-FB7B-446F-8466-4AEC4184BAAF}" dt="2026-07-28T03:48:04.274" v="30" actId="20577"/>
      <pc:docMkLst>
        <pc:docMk/>
      </pc:docMkLst>
      <pc:sldChg chg="modSp mod">
        <pc:chgData name="Venkat Shiva" userId="9d6c1d36ca13d03d" providerId="LiveId" clId="{7CAD9976-FB7B-446F-8466-4AEC4184BAAF}" dt="2026-07-28T03:48:04.274" v="30" actId="20577"/>
        <pc:sldMkLst>
          <pc:docMk/>
          <pc:sldMk cId="0" sldId="256"/>
        </pc:sldMkLst>
        <pc:spChg chg="mod">
          <ac:chgData name="Venkat Shiva" userId="9d6c1d36ca13d03d" providerId="LiveId" clId="{7CAD9976-FB7B-446F-8466-4AEC4184BAAF}" dt="2026-07-28T03:48:04.274" v="30" actId="20577"/>
          <ac:spMkLst>
            <pc:docMk/>
            <pc:sldMk cId="0" sldId="256"/>
            <ac:spMk id="3" creationId="{276ACD4D-9C43-53E7-2D0B-C0D783B6AE95}"/>
          </ac:spMkLst>
        </pc:spChg>
        <pc:spChg chg="mod">
          <ac:chgData name="Venkat Shiva" userId="9d6c1d36ca13d03d" providerId="LiveId" clId="{7CAD9976-FB7B-446F-8466-4AEC4184BAAF}" dt="2026-07-28T03:47:52.360" v="11" actId="20577"/>
          <ac:spMkLst>
            <pc:docMk/>
            <pc:sldMk cId="0" sldId="256"/>
            <ac:spMk id="6" creationId="{E4BA05F0-0850-DEC0-B795-7B0B3FB261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1DEB6-33A7-4DAB-961F-65530E987B37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8C10C-116E-4577-9A29-D9512F1ED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3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8F87-1642-4544-81DC-6434401240B7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4EA3-4A9E-491A-968F-60237EF37C3D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D41A-9FB8-4C1D-AF1C-D20642F82AA6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A3B9-0401-4CD8-A5BB-7435757CD99E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8189A-7851-4C2A-8900-0A5D13675E41}" type="datetime1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1060-5C86-462A-9FD9-0EA13DFEC028}" type="datetime1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5D7F-7B45-47C8-88D0-96DE9E47936A}" type="datetime1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DD2A-424C-4081-AF56-E3D63D14E849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9079-6829-41D8-BE0E-BEDEE21938F6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DAB9B-134F-4A91-A751-5ED9388DD975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5F4D-5F72-4F79-8A8A-4C1695E9AD2C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6D0A6-0A27-43EC-AE11-FDE1FD8F1EBB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AE28B2-E28F-93E2-4EA2-7CD517131B26}"/>
              </a:ext>
            </a:extLst>
          </p:cNvPr>
          <p:cNvSpPr txBox="1"/>
          <p:nvPr/>
        </p:nvSpPr>
        <p:spPr>
          <a:xfrm>
            <a:off x="544554" y="1679773"/>
            <a:ext cx="10789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presentation on the EER model, demonstrating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specialization with a University case study.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6" descr="SIMATS ENGINEERING —Profile">
            <a:extLst>
              <a:ext uri="{FF2B5EF4-FFF2-40B4-BE49-F238E27FC236}">
                <a16:creationId xmlns:a16="http://schemas.microsoft.com/office/drawing/2014/main" id="{F6179F1A-957A-AB57-2B29-1F87CA514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15" y="335750"/>
            <a:ext cx="1145611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A05F0-0850-DEC0-B795-7B0B3FB26173}"/>
              </a:ext>
            </a:extLst>
          </p:cNvPr>
          <p:cNvSpPr txBox="1"/>
          <p:nvPr/>
        </p:nvSpPr>
        <p:spPr>
          <a:xfrm>
            <a:off x="7698658" y="4982745"/>
            <a:ext cx="449334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COURSE CODE:	ITA0508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NAME:N.VENKATA SHIVA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ACD4D-9C43-53E7-2D0B-C0D783B6AE95}"/>
              </a:ext>
            </a:extLst>
          </p:cNvPr>
          <p:cNvSpPr txBox="1"/>
          <p:nvPr/>
        </p:nvSpPr>
        <p:spPr>
          <a:xfrm>
            <a:off x="211015" y="4844246"/>
            <a:ext cx="21804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COURSE </a:t>
            </a:r>
          </a:p>
          <a:p>
            <a:pPr>
              <a:buNone/>
            </a:pPr>
            <a:r>
              <a:rPr lang="en-IN" b="1" dirty="0"/>
              <a:t>NAME:COMPUTER VISION		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38F9-559B-8A2D-F4CA-D64448A1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9166-32F2-45C2-701F-423E9413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B9D0B-94EB-CBC3-8772-E3A531B6DCC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CC618-CEDC-1B5D-AB3B-D1F2F24C12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6C160007-CDB9-4816-8F76-75045356F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4FD3FBEA-03AE-A1ED-86AE-3F54E45C9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9CCB5272-CD80-0674-355E-2FCD8F58FE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98DD317-0605-FD55-90BA-DF542C3A8A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5470" y="2449443"/>
            <a:ext cx="7415048" cy="335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EER (Enhanced Entity-Relationship) Model</a:t>
            </a:r>
            <a:r>
              <a:rPr lang="en-IN" sz="2400" dirty="0"/>
              <a:t> is an extension of the ER model.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 It supports </a:t>
            </a:r>
            <a:r>
              <a:rPr lang="en-IN" sz="2400" b="1" dirty="0"/>
              <a:t>generalization</a:t>
            </a:r>
            <a:r>
              <a:rPr lang="en-IN" sz="2400" dirty="0"/>
              <a:t> and </a:t>
            </a:r>
            <a:r>
              <a:rPr lang="en-IN" sz="2400" b="1" dirty="0"/>
              <a:t>specialization</a:t>
            </a:r>
            <a:r>
              <a:rPr lang="en-IN" sz="2400" dirty="0"/>
              <a:t>.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It allows </a:t>
            </a:r>
            <a:r>
              <a:rPr lang="en-IN" sz="2400" b="1" dirty="0"/>
              <a:t>inheritance</a:t>
            </a:r>
            <a:r>
              <a:rPr lang="en-IN" sz="2400" dirty="0"/>
              <a:t> of common attributes.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 It represents </a:t>
            </a:r>
            <a:r>
              <a:rPr lang="en-IN" sz="2400" b="1" dirty="0"/>
              <a:t>real-world entities</a:t>
            </a:r>
            <a:r>
              <a:rPr lang="en-IN" sz="2400" dirty="0"/>
              <a:t> more effectively. It reduces </a:t>
            </a:r>
            <a:r>
              <a:rPr lang="en-IN" sz="2400" b="1" dirty="0"/>
              <a:t>data redundancy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69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8359-FBB8-9F02-A5EC-D9713379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381" y="391511"/>
            <a:ext cx="8931237" cy="1142999"/>
          </a:xfrm>
        </p:spPr>
        <p:txBody>
          <a:bodyPr>
            <a:noAutofit/>
          </a:bodyPr>
          <a:lstStyle/>
          <a:p>
            <a:r>
              <a:rPr lang="en-IN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TYPE PROCESS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166C5-14A7-F77A-6D71-02150A9D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73CB1C-BBFC-CD58-6491-E067D6A91DB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5AD316-0DD8-D422-E82B-AEE04799C83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0E64537-40A2-EC0F-2E7C-9133F4801A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352" y="1959151"/>
            <a:ext cx="9468463" cy="335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Subtype</a:t>
            </a:r>
            <a:r>
              <a:rPr lang="en-IN" sz="2400" dirty="0"/>
              <a:t> is a specialized entity derived from a </a:t>
            </a:r>
            <a:r>
              <a:rPr lang="en-IN" sz="2400" b="1" dirty="0"/>
              <a:t>supertype</a:t>
            </a:r>
            <a:r>
              <a:rPr lang="en-IN" sz="2400" dirty="0"/>
              <a:t>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It inherits all attributes of the </a:t>
            </a:r>
            <a:r>
              <a:rPr lang="en-IN" sz="2400" b="1" dirty="0"/>
              <a:t>supertype</a:t>
            </a:r>
            <a:r>
              <a:rPr lang="en-IN" sz="2400" dirty="0"/>
              <a:t>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 Each subtype has its own </a:t>
            </a:r>
            <a:r>
              <a:rPr lang="en-IN" sz="2400" b="1" dirty="0"/>
              <a:t>unique attributes</a:t>
            </a:r>
            <a:r>
              <a:rPr lang="en-IN" sz="2400" dirty="0"/>
              <a:t>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Subtypes are created based on </a:t>
            </a:r>
            <a:r>
              <a:rPr lang="en-IN" sz="2400" b="1" dirty="0"/>
              <a:t>specific characteristics</a:t>
            </a:r>
            <a:r>
              <a:rPr lang="en-IN" sz="2400" dirty="0"/>
              <a:t>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 It is also called the </a:t>
            </a:r>
            <a:r>
              <a:rPr lang="en-IN" sz="2400" b="1" dirty="0"/>
              <a:t>specialization process</a:t>
            </a:r>
            <a:r>
              <a:rPr lang="en-IN" sz="2400" dirty="0"/>
              <a:t>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It improves </a:t>
            </a:r>
            <a:r>
              <a:rPr lang="en-IN" sz="2400" b="1" dirty="0"/>
              <a:t>data organization</a:t>
            </a:r>
            <a:r>
              <a:rPr lang="en-IN" sz="2400" dirty="0"/>
              <a:t> and reduces redundancy.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67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Mapping Trade-offs: Generalization vs. Specialization (Points)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93527B-8FE9-1014-2B02-3C9A26DF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4214A1-6088-C4E0-2FE2-A616D3BA2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910" y="1782547"/>
            <a:ext cx="446218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Generalization</a:t>
            </a:r>
          </a:p>
          <a:p>
            <a:r>
              <a:rPr lang="en-IN" sz="2000" dirty="0"/>
              <a:t>Bottom-up approach </a:t>
            </a:r>
          </a:p>
          <a:p>
            <a:r>
              <a:rPr lang="en-IN" sz="2000" dirty="0"/>
              <a:t>Combines similar entities </a:t>
            </a:r>
          </a:p>
          <a:p>
            <a:r>
              <a:rPr lang="en-IN" sz="2000" dirty="0"/>
              <a:t>Creates a common supertype </a:t>
            </a:r>
          </a:p>
          <a:p>
            <a:r>
              <a:rPr lang="en-IN" sz="2000" dirty="0"/>
              <a:t>Focuses on shared attributes </a:t>
            </a:r>
          </a:p>
          <a:p>
            <a:r>
              <a:rPr lang="en-IN" sz="2000" dirty="0"/>
              <a:t>Reduces data redundancy </a:t>
            </a:r>
          </a:p>
          <a:p>
            <a:r>
              <a:rPr lang="en-IN" sz="2000" dirty="0"/>
              <a:t>Example: Student + Faculty → Person </a:t>
            </a:r>
          </a:p>
          <a:p>
            <a:r>
              <a:rPr lang="en-IN" sz="2000" b="1" dirty="0"/>
              <a:t>Specialization</a:t>
            </a:r>
          </a:p>
          <a:p>
            <a:r>
              <a:rPr lang="en-IN" sz="2000" dirty="0"/>
              <a:t>Top-down approach </a:t>
            </a:r>
          </a:p>
          <a:p>
            <a:r>
              <a:rPr lang="en-IN" sz="2000" dirty="0"/>
              <a:t>Divides a supertype into subtypes </a:t>
            </a:r>
          </a:p>
          <a:p>
            <a:r>
              <a:rPr lang="en-IN" sz="2000" dirty="0"/>
              <a:t>Creates specialized entities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4DB3818-66DF-9658-B78C-A29AAA60D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533291"/>
              </p:ext>
            </p:extLst>
          </p:nvPr>
        </p:nvGraphicFramePr>
        <p:xfrm>
          <a:off x="609600" y="2765901"/>
          <a:ext cx="5486400" cy="3657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4029441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6018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1129-60C1-C52C-82A3-52B08768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096" y="304802"/>
            <a:ext cx="9467877" cy="1334728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ERR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50A0F-1EEC-7405-0BD4-D74DCC46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D1F6B90-F229-9CBF-F92B-E84DBFE9EA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626" y="1704319"/>
            <a:ext cx="7240331" cy="5022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Main Entities</a:t>
            </a:r>
          </a:p>
          <a:p>
            <a:r>
              <a:rPr lang="en-IN" sz="1800" b="1" dirty="0"/>
              <a:t>Person</a:t>
            </a:r>
            <a:r>
              <a:rPr lang="en-IN" sz="1800" dirty="0"/>
              <a:t> (Supertype) </a:t>
            </a:r>
          </a:p>
          <a:p>
            <a:r>
              <a:rPr lang="en-IN" sz="1800" b="1" dirty="0"/>
              <a:t>Student</a:t>
            </a:r>
            <a:r>
              <a:rPr lang="en-IN" sz="1800" dirty="0"/>
              <a:t> (Subtype) </a:t>
            </a:r>
          </a:p>
          <a:p>
            <a:r>
              <a:rPr lang="en-IN" sz="1800" b="1" dirty="0"/>
              <a:t>Faculty</a:t>
            </a:r>
            <a:r>
              <a:rPr lang="en-IN" sz="1800" dirty="0"/>
              <a:t> (Subtype) </a:t>
            </a:r>
          </a:p>
          <a:p>
            <a:r>
              <a:rPr lang="en-IN" sz="1800" b="1" dirty="0"/>
              <a:t>Staff</a:t>
            </a:r>
            <a:r>
              <a:rPr lang="en-IN" sz="1800" dirty="0"/>
              <a:t> (Subtype) </a:t>
            </a:r>
          </a:p>
          <a:p>
            <a:r>
              <a:rPr lang="en-IN" sz="1800" b="1" dirty="0"/>
              <a:t>Department</a:t>
            </a:r>
            <a:r>
              <a:rPr lang="en-IN" sz="1800" dirty="0"/>
              <a:t> </a:t>
            </a:r>
          </a:p>
          <a:p>
            <a:r>
              <a:rPr lang="en-IN" sz="1800" b="1" dirty="0"/>
              <a:t>Course</a:t>
            </a:r>
            <a:r>
              <a:rPr lang="en-IN" sz="1800" dirty="0"/>
              <a:t> </a:t>
            </a:r>
          </a:p>
          <a:p>
            <a:r>
              <a:rPr lang="en-IN" sz="1800" b="1" dirty="0"/>
              <a:t>Classroom</a:t>
            </a:r>
            <a:r>
              <a:rPr lang="en-IN" sz="1800" dirty="0"/>
              <a:t> </a:t>
            </a:r>
          </a:p>
          <a:p>
            <a:r>
              <a:rPr lang="en-IN" sz="1800" b="1" dirty="0"/>
              <a:t>Generalization</a:t>
            </a:r>
          </a:p>
          <a:p>
            <a:r>
              <a:rPr lang="en-IN" sz="1800" b="1" dirty="0"/>
              <a:t>Student</a:t>
            </a:r>
            <a:r>
              <a:rPr lang="en-IN" sz="1800" dirty="0"/>
              <a:t>, </a:t>
            </a:r>
            <a:r>
              <a:rPr lang="en-IN" sz="1800" b="1" dirty="0"/>
              <a:t>Faculty</a:t>
            </a:r>
            <a:r>
              <a:rPr lang="en-IN" sz="1800" dirty="0"/>
              <a:t>, and </a:t>
            </a:r>
            <a:r>
              <a:rPr lang="en-IN" sz="1800" b="1" dirty="0"/>
              <a:t>Staff</a:t>
            </a:r>
            <a:r>
              <a:rPr lang="en-IN" sz="1800" dirty="0"/>
              <a:t> are generalized into </a:t>
            </a:r>
            <a:r>
              <a:rPr lang="en-IN" sz="1800" b="1" dirty="0"/>
              <a:t>Person</a:t>
            </a:r>
            <a:r>
              <a:rPr lang="en-IN" sz="1800" dirty="0"/>
              <a:t>. </a:t>
            </a:r>
          </a:p>
          <a:p>
            <a:r>
              <a:rPr lang="en-IN" sz="1800" dirty="0"/>
              <a:t>Common attributes: </a:t>
            </a:r>
          </a:p>
          <a:p>
            <a:pPr lvl="1"/>
            <a:r>
              <a:rPr lang="en-IN" sz="1800" dirty="0" err="1"/>
              <a:t>Person_ID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Name </a:t>
            </a:r>
          </a:p>
          <a:p>
            <a:pPr lvl="1"/>
            <a:r>
              <a:rPr lang="en-IN" sz="1800" dirty="0"/>
              <a:t>Gender </a:t>
            </a:r>
          </a:p>
          <a:p>
            <a:pPr lvl="1"/>
            <a:r>
              <a:rPr lang="en-IN" sz="1800" dirty="0"/>
              <a:t>Date of Birth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7981B-D5A4-0327-55D9-C362A9DD196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ECE544-5E9C-E270-F824-BB88CADA61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EAE1-FDAB-9BB3-327B-00A11401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59" y="463165"/>
            <a:ext cx="8406581" cy="1143000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87C8F-55E1-EC6E-BFEB-76F20B4D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D8E757E-611C-1DAA-D71D-AF46AB3633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032" y="2877265"/>
            <a:ext cx="7639665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Step 1: Create Supertype Table</a:t>
            </a:r>
          </a:p>
          <a:p>
            <a:r>
              <a:rPr lang="en-IN" sz="2000" dirty="0"/>
              <a:t>Create the </a:t>
            </a:r>
            <a:r>
              <a:rPr lang="en-IN" sz="2000" b="1" dirty="0"/>
              <a:t>Person</a:t>
            </a:r>
            <a:r>
              <a:rPr lang="en-IN" sz="2000" dirty="0"/>
              <a:t> table. </a:t>
            </a:r>
          </a:p>
          <a:p>
            <a:r>
              <a:rPr lang="en-IN" sz="2000" dirty="0"/>
              <a:t>Store common attributes. </a:t>
            </a:r>
          </a:p>
          <a:p>
            <a:r>
              <a:rPr lang="en-IN" sz="2000" dirty="0"/>
              <a:t>Primary Key: </a:t>
            </a:r>
            <a:r>
              <a:rPr lang="en-IN" sz="2000" b="1" dirty="0" err="1"/>
              <a:t>Person_ID</a:t>
            </a:r>
            <a:r>
              <a:rPr lang="en-IN" sz="2000" dirty="0"/>
              <a:t> </a:t>
            </a:r>
          </a:p>
          <a:p>
            <a:r>
              <a:rPr lang="en-IN" sz="2000" b="1" dirty="0"/>
              <a:t>Step 2: Create Subtype Tables</a:t>
            </a:r>
          </a:p>
          <a:p>
            <a:r>
              <a:rPr lang="en-IN" sz="2000" dirty="0"/>
              <a:t>Create separate tables for </a:t>
            </a:r>
            <a:r>
              <a:rPr lang="en-IN" sz="2000" b="1" dirty="0"/>
              <a:t>Student</a:t>
            </a:r>
            <a:r>
              <a:rPr lang="en-IN" sz="2000" dirty="0"/>
              <a:t>, </a:t>
            </a:r>
            <a:r>
              <a:rPr lang="en-IN" sz="2000" b="1" dirty="0"/>
              <a:t>Faculty</a:t>
            </a:r>
            <a:r>
              <a:rPr lang="en-IN" sz="2000" dirty="0"/>
              <a:t>, and </a:t>
            </a:r>
            <a:r>
              <a:rPr lang="en-IN" sz="2000" b="1" dirty="0"/>
              <a:t>Staff</a:t>
            </a:r>
            <a:r>
              <a:rPr lang="en-IN" sz="2000" dirty="0"/>
              <a:t>. </a:t>
            </a:r>
          </a:p>
          <a:p>
            <a:r>
              <a:rPr lang="en-IN" sz="2000" dirty="0"/>
              <a:t>Use </a:t>
            </a:r>
            <a:r>
              <a:rPr lang="en-IN" sz="2000" b="1" dirty="0" err="1"/>
              <a:t>Person_ID</a:t>
            </a:r>
            <a:r>
              <a:rPr lang="en-IN" sz="2000" dirty="0"/>
              <a:t> as both Primary Key and Foreign Key.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318FD-AEA4-064C-FBF8-DE719C38426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AA6D40-DDF4-7D60-017E-96EA8FC31A3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941" y="263281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952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est Thank You For PPT Slide">
            <a:extLst>
              <a:ext uri="{FF2B5EF4-FFF2-40B4-BE49-F238E27FC236}">
                <a16:creationId xmlns:a16="http://schemas.microsoft.com/office/drawing/2014/main" id="{4800254D-A879-6542-A0E0-084216991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31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VENKAT DBMS TENICAL</Template>
  <TotalTime>23</TotalTime>
  <Words>281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Introduction</vt:lpstr>
      <vt:lpstr>SUB TYPE PROCESS</vt:lpstr>
      <vt:lpstr>Mapping Trade-offs: Generalization vs. Specialization (Points)</vt:lpstr>
      <vt:lpstr>UNIVERSITY ERR MODEL</vt:lpstr>
      <vt:lpstr>MAPPING SYSTEM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Shiva</dc:creator>
  <dc:description>generated using python-pptx</dc:description>
  <cp:lastModifiedBy>Venkat Shiva</cp:lastModifiedBy>
  <cp:revision>2</cp:revision>
  <dcterms:created xsi:type="dcterms:W3CDTF">2026-07-24T08:26:12Z</dcterms:created>
  <dcterms:modified xsi:type="dcterms:W3CDTF">2026-07-28T03:48:13Z</dcterms:modified>
</cp:coreProperties>
</file>